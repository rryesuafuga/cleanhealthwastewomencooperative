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8625" y="574328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15186" y="667643"/>
            <a:ext cx="31362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602943" y="1583978"/>
            <a:ext cx="3937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4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CLEANHEALTH WASTE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199230" y="2136428"/>
            <a:ext cx="274554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67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COOPERATIVE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14553" y="2671911"/>
            <a:ext cx="43147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6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Healthcare Waste into Women's Economic Empowerment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91000" y="3220492"/>
            <a:ext cx="762000" cy="19050"/>
          </a:xfrm>
          <a:prstGeom prst="rect">
            <a:avLst/>
          </a:prstGeom>
          <a:solidFill>
            <a:srgbClr val="81C7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50890" y="3601492"/>
            <a:ext cx="16420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by Samura Boona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06601" y="3965228"/>
            <a:ext cx="15307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Laboratory Technologist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499046" y="4435673"/>
            <a:ext cx="2145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3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WE4A Grant Application 2026 • Kampala, Uganda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382000" cy="40005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4109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1000" y="914400"/>
            <a:ext cx="8382000" cy="363736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14400"/>
            <a:ext cx="0" cy="363736"/>
          </a:xfrm>
          <a:prstGeom prst="line">
            <a:avLst/>
          </a:prstGeom>
          <a:noFill/>
          <a:ln w="47625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1975" y="1009650"/>
            <a:ext cx="8229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Uganda's healthcare facilities generate 20-92 kg of waste daily, with less than 6% compliance with proper segregation practices.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168723"/>
            <a:ext cx="2705100" cy="1569690"/>
          </a:xfrm>
          <a:prstGeom prst="roundRect">
            <a:avLst>
              <a:gd name="adj" fmla="val 485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828" y="2340173"/>
            <a:ext cx="24094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8828" y="3083123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8828" y="3433614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 proper waste management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19450" y="2168723"/>
            <a:ext cx="2705100" cy="1569690"/>
          </a:xfrm>
          <a:prstGeom prst="roundRect">
            <a:avLst>
              <a:gd name="adj" fmla="val 4854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7278" y="2340173"/>
            <a:ext cx="24094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67278" y="3083123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Non-Hazardous Waste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7278" y="3433614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with infectious materials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57900" y="2168723"/>
            <a:ext cx="2705100" cy="1569690"/>
          </a:xfrm>
          <a:prstGeom prst="roundRect">
            <a:avLst>
              <a:gd name="adj" fmla="val 4854"/>
            </a:avLst>
          </a:prstGeom>
          <a:solidFill>
            <a:srgbClr val="FCE4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05728" y="2340173"/>
            <a:ext cx="24094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AD1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05728" y="3083123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AD1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Cooperatives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05728" y="3433614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healthcare waste sector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1000" y="4629150"/>
            <a:ext cx="4124325" cy="28575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5300" y="4705350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Medical waste contaminates landfills and groundwater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38675" y="4629150"/>
            <a:ext cx="4124325" cy="28575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52975" y="4705350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Valuable recyclables worth millions are buried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382000" cy="40005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4109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650" dirty="0"/>
          </a:p>
        </p:txBody>
      </p:sp>
      <p:pic>
        <p:nvPicPr>
          <p:cNvPr id="4" name="Image 0" descr="/tmp/rasterized-gradient-da9c46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457920"/>
            <a:ext cx="4766370" cy="746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50" y="1591270"/>
            <a:ext cx="2302574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Cooperative Model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14350" y="1777454"/>
            <a:ext cx="458966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women into a professional cooperative providing healthcare waste sorting, non-hazardous collection, and recycling linkage services.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81000" y="2451646"/>
            <a:ext cx="4766370" cy="428476"/>
          </a:xfrm>
          <a:prstGeom prst="roundRect">
            <a:avLst>
              <a:gd name="adj" fmla="val 133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95300" y="2541984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202" y="2585740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8200" y="2527846"/>
            <a:ext cx="42787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Training from Medical Lab Professional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838200" y="2683966"/>
            <a:ext cx="42787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categories, biohazard identification, safe handling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381000" y="2956322"/>
            <a:ext cx="4766370" cy="428476"/>
          </a:xfrm>
          <a:prstGeom prst="roundRect">
            <a:avLst>
              <a:gd name="adj" fmla="val 133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5300" y="3046661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202" y="3090416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8200" y="3032522"/>
            <a:ext cx="42787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Non-Hazardous Focus = Low Risk, High Value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838200" y="3188643"/>
            <a:ext cx="42787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Paper, cardboard, plastics—no expensive equipment needed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381000" y="3460998"/>
            <a:ext cx="4766370" cy="428476"/>
          </a:xfrm>
          <a:prstGeom prst="roundRect">
            <a:avLst>
              <a:gd name="adj" fmla="val 133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5300" y="3551337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71202" y="3595092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8200" y="3537198"/>
            <a:ext cx="42787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Partner for Healthcare Facilities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838200" y="3693319"/>
            <a:ext cx="42787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clinics meet NEMA regulations + staff training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5318820" y="1649164"/>
            <a:ext cx="3444180" cy="2049066"/>
          </a:xfrm>
          <a:prstGeom prst="roundRect">
            <a:avLst>
              <a:gd name="adj" fmla="val 4648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452170" y="1782514"/>
            <a:ext cx="324103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452170" y="2174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527774" y="2206228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5737920" y="2174825"/>
            <a:ext cx="11046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Facilities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737920" y="2330946"/>
            <a:ext cx="11046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service contracts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5452170" y="2546152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527774" y="2577554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5737920" y="2546152"/>
            <a:ext cx="13301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Staff on Segregation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737920" y="2702272"/>
            <a:ext cx="133011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source separation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5452170" y="291747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527774" y="294888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737920" y="2917478"/>
            <a:ext cx="15162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Non-Hazardous Waste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5737920" y="3073598"/>
            <a:ext cx="15162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scheduled pickups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5452170" y="3288804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527774" y="3320207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737920" y="3288804"/>
            <a:ext cx="11880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&amp; Sell Recyclables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5737920" y="3444925"/>
            <a:ext cx="11880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recycling firms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381000" y="4680645"/>
            <a:ext cx="8382000" cy="234255"/>
          </a:xfrm>
          <a:prstGeom prst="roundRect">
            <a:avLst>
              <a:gd name="adj" fmla="val 2439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33197" y="4737795"/>
            <a:ext cx="82776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model: Women's waste cooperatives created 5,739 jobs in Ethiopia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382000" cy="40005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4109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650" dirty="0"/>
          </a:p>
        </p:txBody>
      </p:sp>
      <p:pic>
        <p:nvPicPr>
          <p:cNvPr id="4" name="Image 0" descr="/tmp/rasterized-gradient-73282a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14400"/>
            <a:ext cx="2705100" cy="13010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9966" y="1047750"/>
            <a:ext cx="24871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675" dirty="0"/>
          </a:p>
        </p:txBody>
      </p:sp>
      <p:sp>
        <p:nvSpPr>
          <p:cNvPr id="6" name="Text 3"/>
          <p:cNvSpPr/>
          <p:nvPr/>
        </p:nvSpPr>
        <p:spPr>
          <a:xfrm>
            <a:off x="489966" y="1358205"/>
            <a:ext cx="24871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7,000+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89966" y="194875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clinics in Uganda</a:t>
            </a:r>
            <a:endParaRPr lang="en-US" sz="750" dirty="0"/>
          </a:p>
        </p:txBody>
      </p:sp>
      <p:pic>
        <p:nvPicPr>
          <p:cNvPr id="8" name="Image 1" descr="/tmp/rasterized-gradient-24e382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914400"/>
            <a:ext cx="2705100" cy="13010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28416" y="1047750"/>
            <a:ext cx="24871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MARKET</a:t>
            </a:r>
            <a:endParaRPr lang="en-US" sz="675" dirty="0"/>
          </a:p>
        </p:txBody>
      </p:sp>
      <p:sp>
        <p:nvSpPr>
          <p:cNvPr id="10" name="Text 6"/>
          <p:cNvSpPr/>
          <p:nvPr/>
        </p:nvSpPr>
        <p:spPr>
          <a:xfrm>
            <a:off x="3328416" y="1358205"/>
            <a:ext cx="24871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3328416" y="194875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in Kampala region</a:t>
            </a:r>
            <a:endParaRPr lang="en-US" sz="750" dirty="0"/>
          </a:p>
        </p:txBody>
      </p:sp>
      <p:pic>
        <p:nvPicPr>
          <p:cNvPr id="12" name="Image 2" descr="/tmp/rasterized-gradient-6f6f137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914400"/>
            <a:ext cx="2705100" cy="13010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66866" y="1047750"/>
            <a:ext cx="24871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TARGET</a:t>
            </a:r>
            <a:endParaRPr lang="en-US" sz="675" dirty="0"/>
          </a:p>
        </p:txBody>
      </p:sp>
      <p:sp>
        <p:nvSpPr>
          <p:cNvPr id="14" name="Text 9"/>
          <p:cNvSpPr/>
          <p:nvPr/>
        </p:nvSpPr>
        <p:spPr>
          <a:xfrm>
            <a:off x="6166866" y="1358205"/>
            <a:ext cx="24871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50" dirty="0"/>
          </a:p>
        </p:txBody>
      </p:sp>
      <p:sp>
        <p:nvSpPr>
          <p:cNvPr id="15" name="Text 10"/>
          <p:cNvSpPr/>
          <p:nvPr/>
        </p:nvSpPr>
        <p:spPr>
          <a:xfrm>
            <a:off x="6166866" y="194875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facility clients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381000" y="2871043"/>
            <a:ext cx="4105275" cy="1674019"/>
          </a:xfrm>
          <a:prstGeom prst="roundRect">
            <a:avLst>
              <a:gd name="adj" fmla="val 455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14350" y="3004393"/>
            <a:ext cx="391534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825" dirty="0"/>
          </a:p>
        </p:txBody>
      </p:sp>
      <p:sp>
        <p:nvSpPr>
          <p:cNvPr id="18" name="Shape 13"/>
          <p:cNvSpPr/>
          <p:nvPr/>
        </p:nvSpPr>
        <p:spPr>
          <a:xfrm>
            <a:off x="514350" y="3689003"/>
            <a:ext cx="38385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14350" y="3377654"/>
            <a:ext cx="956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Service Fees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514350" y="3520529"/>
            <a:ext cx="9560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waste collection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4143077" y="3429000"/>
            <a:ext cx="214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825" dirty="0"/>
          </a:p>
        </p:txBody>
      </p:sp>
      <p:sp>
        <p:nvSpPr>
          <p:cNvPr id="22" name="Shape 17"/>
          <p:cNvSpPr/>
          <p:nvPr/>
        </p:nvSpPr>
        <p:spPr>
          <a:xfrm>
            <a:off x="514350" y="4081314"/>
            <a:ext cx="383857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4350" y="3769965"/>
            <a:ext cx="8986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Recyclables Sales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514350" y="3912840"/>
            <a:ext cx="89868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Paper, plastics, cardboard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4143077" y="3821311"/>
            <a:ext cx="214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514350" y="4162276"/>
            <a:ext cx="8584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Programs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514350" y="4305151"/>
            <a:ext cx="8584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certification</a:t>
            </a:r>
            <a:endParaRPr lang="en-US" sz="600" dirty="0"/>
          </a:p>
        </p:txBody>
      </p:sp>
      <p:sp>
        <p:nvSpPr>
          <p:cNvPr id="28" name="Text 23"/>
          <p:cNvSpPr/>
          <p:nvPr/>
        </p:nvSpPr>
        <p:spPr>
          <a:xfrm>
            <a:off x="4143077" y="4213622"/>
            <a:ext cx="214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4619625" y="3092797"/>
            <a:ext cx="4143375" cy="1230511"/>
          </a:xfrm>
          <a:prstGeom prst="roundRect">
            <a:avLst>
              <a:gd name="adj" fmla="val 6193"/>
            </a:avLst>
          </a:prstGeom>
          <a:solidFill>
            <a:srgbClr val="FFF8E1"/>
          </a:solidFill>
          <a:ln w="19050">
            <a:solidFill>
              <a:srgbClr val="FFD5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772025" y="3245197"/>
            <a:ext cx="391534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825" dirty="0"/>
          </a:p>
        </p:txBody>
      </p:sp>
      <p:sp>
        <p:nvSpPr>
          <p:cNvPr id="31" name="Text 26"/>
          <p:cNvSpPr/>
          <p:nvPr/>
        </p:nvSpPr>
        <p:spPr>
          <a:xfrm>
            <a:off x="4772025" y="3618458"/>
            <a:ext cx="48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4877098" y="3618458"/>
            <a:ext cx="3160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NEMA Regulations</a:t>
            </a:r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mandate proper healthcare waste management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4772025" y="3828008"/>
            <a:ext cx="48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4877098" y="3828008"/>
            <a:ext cx="29425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organized competition</a:t>
            </a:r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women-led healthcare waste services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4772025" y="4037558"/>
            <a:ext cx="48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4877098" y="4037558"/>
            <a:ext cx="22464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private healthcare</a:t>
            </a:r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sector needs solutions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96732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2269"/>
            <a:ext cx="3048000" cy="3598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1115169"/>
            <a:ext cx="857250" cy="857250"/>
          </a:xfrm>
          <a:prstGeom prst="roundRect">
            <a:avLst>
              <a:gd name="adj" fmla="val 10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3834" y="1250454"/>
            <a:ext cx="5334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33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👩🏾‍🔬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66700" y="2296269"/>
            <a:ext cx="1515618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Samura Boona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66700" y="2719536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050"/>
              </a:spcAft>
              <a:buNone/>
            </a:pPr>
            <a:r>
              <a:rPr lang="en-US" sz="825" b="1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Lead Trainer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266700" y="3151882"/>
            <a:ext cx="381000" cy="19050"/>
          </a:xfrm>
          <a:prstGeom prst="rect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66700" y="3456682"/>
            <a:ext cx="25648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Laboratory Technologist with expertise in hematology and general medical lab science. Deep understanding of biohazards, waste categories, and safety protocols.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543300" y="1085850"/>
            <a:ext cx="53629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1350"/>
              </a:spcAft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I'M UNIQUELY QUALIFIED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543300" y="15240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607743" y="1575495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00500" y="1524000"/>
            <a:ext cx="4896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Lab Expertise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000500" y="1703040"/>
            <a:ext cx="48966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in identifying infectious materials, proper specimen handling, and biohazard protocols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543300" y="1981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607743" y="2032695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🩸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00500" y="1981200"/>
            <a:ext cx="4896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Hematology Specialization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00500" y="2160240"/>
            <a:ext cx="48966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knowledge of blood-borne pathogens and contamination risks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543300" y="24384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607743" y="2489895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000500" y="2438400"/>
            <a:ext cx="4896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Facility Knowledge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000500" y="2617440"/>
            <a:ext cx="48966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waste streams from labs, wards, and clinical settings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543300" y="2895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607743" y="2947095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👩🏾‍🏫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000500" y="2895600"/>
            <a:ext cx="4896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Capability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000500" y="3074640"/>
            <a:ext cx="48966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train cooperative members and facility staff on proper waste segregation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543300" y="3562350"/>
            <a:ext cx="5257800" cy="495300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3562350" y="3562350"/>
            <a:ext cx="0" cy="49530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95700" y="3676650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medical laboratory background gives me the credibility to train women on what waste is truly hazardous versus what can be safely recycled."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382000" cy="342900"/>
          </a:xfrm>
          <a:prstGeom prst="roundRect">
            <a:avLst>
              <a:gd name="adj" fmla="val 16667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04800"/>
            <a:ext cx="4109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2730550" cy="544711"/>
          </a:xfrm>
          <a:prstGeom prst="roundRect">
            <a:avLst>
              <a:gd name="adj" fmla="val 10492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419" y="895350"/>
            <a:ext cx="26297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1419" y="1181100"/>
            <a:ext cx="26297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by Year 3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206800" y="819150"/>
            <a:ext cx="2730550" cy="544711"/>
          </a:xfrm>
          <a:prstGeom prst="roundRect">
            <a:avLst>
              <a:gd name="adj" fmla="val 10492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57218" y="895350"/>
            <a:ext cx="26297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57218" y="1181100"/>
            <a:ext cx="26297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Yr 3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032599" y="819150"/>
            <a:ext cx="2730550" cy="544711"/>
          </a:xfrm>
          <a:prstGeom prst="roundRect">
            <a:avLst>
              <a:gd name="adj" fmla="val 10492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83018" y="895350"/>
            <a:ext cx="26297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3018" y="1181100"/>
            <a:ext cx="26297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Point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81000" y="1611511"/>
            <a:ext cx="8382000" cy="2058739"/>
          </a:xfrm>
          <a:prstGeom prst="roundRect">
            <a:avLst>
              <a:gd name="adj" fmla="val 27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" y="1706761"/>
            <a:ext cx="835533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REVENUE PROJECTIONS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76250" y="2019151"/>
            <a:ext cx="8191500" cy="182761"/>
          </a:xfrm>
          <a:prstGeom prst="roundRect">
            <a:avLst>
              <a:gd name="adj" fmla="val 15635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450" y="2057251"/>
            <a:ext cx="30934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707341" y="2057251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376151" y="2057251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7044961" y="2057251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476250" y="2551361"/>
            <a:ext cx="8191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450" y="2411462"/>
            <a:ext cx="30934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Service Fees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707341" y="2411462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376151" y="2411462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$14,400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7044961" y="2411462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6250" y="2708523"/>
            <a:ext cx="8191500" cy="173236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6250" y="2876996"/>
            <a:ext cx="8191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450" y="2737098"/>
            <a:ext cx="30934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Recyclables Sales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707341" y="2737098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$2,240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376151" y="2737098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$3,840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044961" y="2737098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$6,400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76250" y="3202632"/>
            <a:ext cx="81915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450" y="3062734"/>
            <a:ext cx="30934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707341" y="3062734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376151" y="3062734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7044961" y="3062734"/>
            <a:ext cx="154673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$4,800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6250" y="3378845"/>
            <a:ext cx="8191500" cy="196155"/>
          </a:xfrm>
          <a:prstGeom prst="roundRect">
            <a:avLst>
              <a:gd name="adj" fmla="val 1456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52450" y="3416945"/>
            <a:ext cx="3093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707341" y="3416945"/>
            <a:ext cx="15467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$11,840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5376151" y="3416945"/>
            <a:ext cx="15467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$21,440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7044961" y="3416945"/>
            <a:ext cx="15467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$35,200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381000" y="3959275"/>
            <a:ext cx="3780532" cy="761851"/>
          </a:xfrm>
          <a:prstGeom prst="roundRect">
            <a:avLst>
              <a:gd name="adj" fmla="val 750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7200" y="4035475"/>
            <a:ext cx="3700695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spcAft>
                <a:spcPts val="375"/>
              </a:spcAft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COSTS (Year 1 → Year 3)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57200" y="4326880"/>
            <a:ext cx="5707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Payments</a:t>
            </a:r>
            <a:endParaRPr lang="en-US" sz="525" dirty="0"/>
          </a:p>
        </p:txBody>
      </p:sp>
      <p:sp>
        <p:nvSpPr>
          <p:cNvPr id="44" name="Text 42"/>
          <p:cNvSpPr/>
          <p:nvPr/>
        </p:nvSpPr>
        <p:spPr>
          <a:xfrm>
            <a:off x="3573661" y="4326880"/>
            <a:ext cx="52190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$3,360 → $9,360</a:t>
            </a:r>
            <a:endParaRPr lang="en-US" sz="525" dirty="0"/>
          </a:p>
        </p:txBody>
      </p:sp>
      <p:sp>
        <p:nvSpPr>
          <p:cNvPr id="45" name="Text 43"/>
          <p:cNvSpPr/>
          <p:nvPr/>
        </p:nvSpPr>
        <p:spPr>
          <a:xfrm>
            <a:off x="457200" y="4439245"/>
            <a:ext cx="60615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Transport/Collection</a:t>
            </a:r>
            <a:endParaRPr lang="en-US" sz="525" dirty="0"/>
          </a:p>
        </p:txBody>
      </p:sp>
      <p:sp>
        <p:nvSpPr>
          <p:cNvPr id="46" name="Text 44"/>
          <p:cNvSpPr/>
          <p:nvPr/>
        </p:nvSpPr>
        <p:spPr>
          <a:xfrm>
            <a:off x="3573661" y="4439245"/>
            <a:ext cx="52190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$1,440 → $3,600</a:t>
            </a:r>
            <a:endParaRPr lang="en-US" sz="525" dirty="0"/>
          </a:p>
        </p:txBody>
      </p:sp>
      <p:sp>
        <p:nvSpPr>
          <p:cNvPr id="47" name="Text 45"/>
          <p:cNvSpPr/>
          <p:nvPr/>
        </p:nvSpPr>
        <p:spPr>
          <a:xfrm>
            <a:off x="457200" y="4551611"/>
            <a:ext cx="40835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 &amp; Admin</a:t>
            </a:r>
            <a:endParaRPr lang="en-US" sz="525" dirty="0"/>
          </a:p>
        </p:txBody>
      </p:sp>
      <p:sp>
        <p:nvSpPr>
          <p:cNvPr id="48" name="Text 46"/>
          <p:cNvSpPr/>
          <p:nvPr/>
        </p:nvSpPr>
        <p:spPr>
          <a:xfrm>
            <a:off x="3573661" y="4551611"/>
            <a:ext cx="52190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$2,760 → $3,840</a:t>
            </a:r>
            <a:endParaRPr lang="en-US" sz="525" dirty="0"/>
          </a:p>
        </p:txBody>
      </p:sp>
      <p:pic>
        <p:nvPicPr>
          <p:cNvPr id="49" name="Image 0" descr="/tmp/rasterized-gradient-2426fb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6782" y="3955405"/>
            <a:ext cx="4506218" cy="769441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4332982" y="4031605"/>
            <a:ext cx="4440894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spcAft>
                <a:spcPts val="450"/>
              </a:spcAft>
              <a:buNone/>
            </a:pPr>
            <a:r>
              <a:rPr lang="en-US" sz="600" b="1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4773466" y="4332536"/>
            <a:ext cx="4754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$4,280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773466" y="4555331"/>
            <a:ext cx="47545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525" dirty="0"/>
          </a:p>
        </p:txBody>
      </p:sp>
      <p:sp>
        <p:nvSpPr>
          <p:cNvPr id="53" name="Text 50"/>
          <p:cNvSpPr/>
          <p:nvPr/>
        </p:nvSpPr>
        <p:spPr>
          <a:xfrm>
            <a:off x="6186336" y="4332536"/>
            <a:ext cx="5619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$10,220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6186336" y="4555331"/>
            <a:ext cx="56198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525" dirty="0"/>
          </a:p>
        </p:txBody>
      </p:sp>
      <p:sp>
        <p:nvSpPr>
          <p:cNvPr id="55" name="Text 52"/>
          <p:cNvSpPr/>
          <p:nvPr/>
        </p:nvSpPr>
        <p:spPr>
          <a:xfrm>
            <a:off x="7684886" y="4332536"/>
            <a:ext cx="5619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$18,400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7684886" y="4555331"/>
            <a:ext cx="56198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5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382000" cy="40005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4109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$5,000 WE4A GRANT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1000" y="1636663"/>
            <a:ext cx="17339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Equipment (bins, carts)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965924" y="1636663"/>
            <a:ext cx="3269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811834"/>
            <a:ext cx="5905500" cy="17145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rasterized-gradient-12aabc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811834"/>
            <a:ext cx="1771650" cy="1714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0951" y="1837581"/>
            <a:ext cx="1750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381000" y="2078534"/>
            <a:ext cx="12829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 for 8 Initial Members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965924" y="2078534"/>
            <a:ext cx="3269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$1,200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253704"/>
            <a:ext cx="5905500" cy="17145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tmp/rasterized-gradient-d4ed47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53704"/>
            <a:ext cx="141729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3846" y="2279452"/>
            <a:ext cx="1750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675" dirty="0"/>
          </a:p>
        </p:txBody>
      </p:sp>
      <p:sp>
        <p:nvSpPr>
          <p:cNvPr id="14" name="Text 10"/>
          <p:cNvSpPr/>
          <p:nvPr/>
        </p:nvSpPr>
        <p:spPr>
          <a:xfrm>
            <a:off x="381000" y="2520404"/>
            <a:ext cx="15458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Client Acquisition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6053286" y="2520404"/>
            <a:ext cx="2378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381000" y="2695575"/>
            <a:ext cx="5905500" cy="17145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tmp/rasterized-gradient-146865a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695575"/>
            <a:ext cx="944761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7507" y="2721322"/>
            <a:ext cx="1750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675" dirty="0"/>
          </a:p>
        </p:txBody>
      </p:sp>
      <p:sp>
        <p:nvSpPr>
          <p:cNvPr id="19" name="Text 14"/>
          <p:cNvSpPr/>
          <p:nvPr/>
        </p:nvSpPr>
        <p:spPr>
          <a:xfrm>
            <a:off x="381000" y="2962275"/>
            <a:ext cx="14728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Materials &amp; Manuals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6053286" y="2962275"/>
            <a:ext cx="2378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381000" y="3137446"/>
            <a:ext cx="5905500" cy="17145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/tmp/rasterized-gradient-5e90e30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137446"/>
            <a:ext cx="708571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9011" y="3169890"/>
            <a:ext cx="15560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>
            <a:off x="381000" y="3404146"/>
            <a:ext cx="12572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Reserve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6053286" y="3404146"/>
            <a:ext cx="2378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381000" y="3579316"/>
            <a:ext cx="5905500" cy="17145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/tmp/rasterized-gradient-bde7b46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579316"/>
            <a:ext cx="5905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9926" y="3611761"/>
            <a:ext cx="15560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600" dirty="0"/>
          </a:p>
        </p:txBody>
      </p:sp>
      <p:sp>
        <p:nvSpPr>
          <p:cNvPr id="29" name="Text 22"/>
          <p:cNvSpPr/>
          <p:nvPr/>
        </p:nvSpPr>
        <p:spPr>
          <a:xfrm>
            <a:off x="381000" y="3846016"/>
            <a:ext cx="18649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Registration &amp; Licenses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6053286" y="3846016"/>
            <a:ext cx="2378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381000" y="4021187"/>
            <a:ext cx="5905500" cy="17145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5" descr="/tmp/rasterized-gradient-3cef093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021187"/>
            <a:ext cx="472380" cy="1714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2124" y="4053632"/>
            <a:ext cx="11233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600" dirty="0"/>
          </a:p>
        </p:txBody>
      </p:sp>
      <p:pic>
        <p:nvPicPr>
          <p:cNvPr id="34" name="Image 6" descr="/tmp/rasterized-gradient-310128e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525042"/>
            <a:ext cx="2286000" cy="111427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609588" y="1677442"/>
            <a:ext cx="20208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GRANT REQUEST</a:t>
            </a:r>
            <a:endParaRPr lang="en-US" sz="675" dirty="0"/>
          </a:p>
        </p:txBody>
      </p:sp>
      <p:sp>
        <p:nvSpPr>
          <p:cNvPr id="36" name="Text 27"/>
          <p:cNvSpPr/>
          <p:nvPr/>
        </p:nvSpPr>
        <p:spPr>
          <a:xfrm>
            <a:off x="6609588" y="1835497"/>
            <a:ext cx="202082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700" dirty="0"/>
          </a:p>
        </p:txBody>
      </p:sp>
      <p:sp>
        <p:nvSpPr>
          <p:cNvPr id="37" name="Text 28"/>
          <p:cNvSpPr/>
          <p:nvPr/>
        </p:nvSpPr>
        <p:spPr>
          <a:xfrm>
            <a:off x="6609588" y="2353568"/>
            <a:ext cx="2020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allocated to launch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6477000" y="2753618"/>
            <a:ext cx="2286000" cy="1112490"/>
          </a:xfrm>
          <a:prstGeom prst="roundRect">
            <a:avLst>
              <a:gd name="adj" fmla="val 684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6591300" y="2867918"/>
            <a:ext cx="2098548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PRINCIPLES</a:t>
            </a:r>
            <a:endParaRPr lang="en-US" sz="675" dirty="0"/>
          </a:p>
        </p:txBody>
      </p:sp>
      <p:sp>
        <p:nvSpPr>
          <p:cNvPr id="40" name="Text 31"/>
          <p:cNvSpPr/>
          <p:nvPr/>
        </p:nvSpPr>
        <p:spPr>
          <a:xfrm>
            <a:off x="6591300" y="3046958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41" name="Text 32"/>
          <p:cNvSpPr/>
          <p:nvPr/>
        </p:nvSpPr>
        <p:spPr>
          <a:xfrm>
            <a:off x="6718846" y="3046958"/>
            <a:ext cx="10694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equipment &amp; safety</a:t>
            </a:r>
            <a:endParaRPr lang="en-US" sz="675" dirty="0"/>
          </a:p>
        </p:txBody>
      </p:sp>
      <p:sp>
        <p:nvSpPr>
          <p:cNvPr id="42" name="Text 33"/>
          <p:cNvSpPr/>
          <p:nvPr/>
        </p:nvSpPr>
        <p:spPr>
          <a:xfrm>
            <a:off x="6591300" y="3237458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43" name="Text 34"/>
          <p:cNvSpPr/>
          <p:nvPr/>
        </p:nvSpPr>
        <p:spPr>
          <a:xfrm>
            <a:off x="6718846" y="3237458"/>
            <a:ext cx="9625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client acquisition</a:t>
            </a:r>
            <a:endParaRPr lang="en-US" sz="675" dirty="0"/>
          </a:p>
        </p:txBody>
      </p:sp>
      <p:sp>
        <p:nvSpPr>
          <p:cNvPr id="44" name="Text 35"/>
          <p:cNvSpPr/>
          <p:nvPr/>
        </p:nvSpPr>
        <p:spPr>
          <a:xfrm>
            <a:off x="6591300" y="3427958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6718846" y="3427958"/>
            <a:ext cx="14872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salaries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—founder works for equity</a:t>
            </a:r>
            <a:endParaRPr lang="en-US" sz="675" dirty="0"/>
          </a:p>
        </p:txBody>
      </p:sp>
      <p:sp>
        <p:nvSpPr>
          <p:cNvPr id="46" name="Text 37"/>
          <p:cNvSpPr/>
          <p:nvPr/>
        </p:nvSpPr>
        <p:spPr>
          <a:xfrm>
            <a:off x="6591300" y="3618458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47" name="Text 38"/>
          <p:cNvSpPr/>
          <p:nvPr/>
        </p:nvSpPr>
        <p:spPr>
          <a:xfrm>
            <a:off x="6718846" y="3618458"/>
            <a:ext cx="8502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Month 2</a:t>
            </a:r>
            <a:endParaRPr lang="en-US" sz="675" dirty="0"/>
          </a:p>
        </p:txBody>
      </p:sp>
      <p:sp>
        <p:nvSpPr>
          <p:cNvPr id="48" name="Text 39"/>
          <p:cNvSpPr/>
          <p:nvPr/>
        </p:nvSpPr>
        <p:spPr>
          <a:xfrm>
            <a:off x="6477000" y="3980408"/>
            <a:ext cx="2286000" cy="323850"/>
          </a:xfrm>
          <a:prstGeom prst="roundRect">
            <a:avLst>
              <a:gd name="adj" fmla="val 23529"/>
            </a:avLst>
          </a:prstGeom>
          <a:solidFill>
            <a:srgbClr val="FFF8E1"/>
          </a:solidFill>
          <a:ln w="19050">
            <a:solidFill>
              <a:srgbClr val="FFD5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6551295" y="4075658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→ $35,200 revenue by Year 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382000" cy="40005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4109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BOTTOM LINE IMPACT</a:t>
            </a:r>
            <a:endParaRPr lang="en-US" sz="1650" dirty="0"/>
          </a:p>
        </p:txBody>
      </p:sp>
      <p:pic>
        <p:nvPicPr>
          <p:cNvPr id="4" name="Image 0" descr="/tmp/rasterized-gradient-a417ec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68896"/>
            <a:ext cx="2705100" cy="2990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1150" y="134987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48395" y="1395561"/>
            <a:ext cx="5818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👩🏾‍🤝‍👩🏾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9966" y="1711821"/>
            <a:ext cx="24871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EMPOWERMENT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14350" y="2092821"/>
            <a:ext cx="2438400" cy="664666"/>
          </a:xfrm>
          <a:prstGeom prst="roundRect">
            <a:avLst>
              <a:gd name="adj" fmla="val 85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7690" y="2169021"/>
            <a:ext cx="23317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67690" y="2561332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Employed by Year 3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14350" y="2833688"/>
            <a:ext cx="2438400" cy="558105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7690" y="2909888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$150+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7690" y="3195638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Income Per Member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14350" y="3467993"/>
            <a:ext cx="2438400" cy="558105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7690" y="3544193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67690" y="3829943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Women-Led &amp; Owned</a:t>
            </a:r>
            <a:endParaRPr lang="en-US" sz="675" dirty="0"/>
          </a:p>
        </p:txBody>
      </p:sp>
      <p:pic>
        <p:nvPicPr>
          <p:cNvPr id="17" name="Image 1" descr="/tmp/rasterized-gradient-5e75d6b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1168896"/>
            <a:ext cx="2705100" cy="29905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19600" y="134987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476899" y="1395561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28416" y="1711821"/>
            <a:ext cx="24871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352800" y="2092821"/>
            <a:ext cx="2438400" cy="664666"/>
          </a:xfrm>
          <a:prstGeom prst="roundRect">
            <a:avLst>
              <a:gd name="adj" fmla="val 85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406140" y="2169021"/>
            <a:ext cx="23317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3406140" y="2561332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Tonnes Diverted from Landfill/Yr</a:t>
            </a:r>
            <a:endParaRPr lang="en-US" sz="675" dirty="0"/>
          </a:p>
        </p:txBody>
      </p:sp>
      <p:sp>
        <p:nvSpPr>
          <p:cNvPr id="24" name="Text 20"/>
          <p:cNvSpPr/>
          <p:nvPr/>
        </p:nvSpPr>
        <p:spPr>
          <a:xfrm>
            <a:off x="3352800" y="2833688"/>
            <a:ext cx="2438400" cy="558105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406140" y="2909888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3406140" y="3195638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Properly Segregated</a:t>
            </a:r>
            <a:endParaRPr lang="en-US" sz="675" dirty="0"/>
          </a:p>
        </p:txBody>
      </p:sp>
      <p:sp>
        <p:nvSpPr>
          <p:cNvPr id="27" name="Text 23"/>
          <p:cNvSpPr/>
          <p:nvPr/>
        </p:nvSpPr>
        <p:spPr>
          <a:xfrm>
            <a:off x="3352800" y="3467993"/>
            <a:ext cx="2438400" cy="558105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406140" y="3544193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3406140" y="3829943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Groundwater Contamination</a:t>
            </a:r>
            <a:endParaRPr lang="en-US" sz="675" dirty="0"/>
          </a:p>
        </p:txBody>
      </p:sp>
      <p:pic>
        <p:nvPicPr>
          <p:cNvPr id="30" name="Image 2" descr="/tmp/rasterized-gradient-cb0a46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1168896"/>
            <a:ext cx="2705100" cy="299055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258050" y="134987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7315349" y="1395561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166866" y="1711821"/>
            <a:ext cx="24871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SECTOR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6191250" y="2092821"/>
            <a:ext cx="2438400" cy="664666"/>
          </a:xfrm>
          <a:prstGeom prst="roundRect">
            <a:avLst>
              <a:gd name="adj" fmla="val 85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6244590" y="2169021"/>
            <a:ext cx="23317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100" dirty="0"/>
          </a:p>
        </p:txBody>
      </p:sp>
      <p:sp>
        <p:nvSpPr>
          <p:cNvPr id="36" name="Text 31"/>
          <p:cNvSpPr/>
          <p:nvPr/>
        </p:nvSpPr>
        <p:spPr>
          <a:xfrm>
            <a:off x="6244590" y="2561332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Compliant by Year 3</a:t>
            </a:r>
            <a:endParaRPr lang="en-US" sz="675" dirty="0"/>
          </a:p>
        </p:txBody>
      </p:sp>
      <p:sp>
        <p:nvSpPr>
          <p:cNvPr id="37" name="Text 32"/>
          <p:cNvSpPr/>
          <p:nvPr/>
        </p:nvSpPr>
        <p:spPr>
          <a:xfrm>
            <a:off x="6191250" y="2833688"/>
            <a:ext cx="2438400" cy="558105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244590" y="2909888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6244590" y="3195638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Workers Trained</a:t>
            </a:r>
            <a:endParaRPr lang="en-US" sz="675" dirty="0"/>
          </a:p>
        </p:txBody>
      </p:sp>
      <p:sp>
        <p:nvSpPr>
          <p:cNvPr id="40" name="Text 35"/>
          <p:cNvSpPr/>
          <p:nvPr/>
        </p:nvSpPr>
        <p:spPr>
          <a:xfrm>
            <a:off x="6191250" y="3467993"/>
            <a:ext cx="2438400" cy="558105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244590" y="3544193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6%→72%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6244590" y="3829943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Rate Improvement</a:t>
            </a:r>
            <a:endParaRPr lang="en-US" sz="675" dirty="0"/>
          </a:p>
        </p:txBody>
      </p:sp>
      <p:sp>
        <p:nvSpPr>
          <p:cNvPr id="43" name="Text 38"/>
          <p:cNvSpPr/>
          <p:nvPr/>
        </p:nvSpPr>
        <p:spPr>
          <a:xfrm>
            <a:off x="381000" y="4680645"/>
            <a:ext cx="8382000" cy="234255"/>
          </a:xfrm>
          <a:prstGeom prst="roundRect">
            <a:avLst>
              <a:gd name="adj" fmla="val 243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433197" y="4737795"/>
            <a:ext cx="82776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WE4A Goals:</a:t>
            </a:r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Women's economic empowerment • Circular economy • Environmental sustainability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382000" cy="400050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323850"/>
            <a:ext cx="4109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SUCCESS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95388" y="161672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B5E20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09539" y="1727150"/>
            <a:ext cx="1556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245370"/>
            <a:ext cx="2009775" cy="1485305"/>
          </a:xfrm>
          <a:prstGeom prst="roundRect">
            <a:avLst>
              <a:gd name="adj" fmla="val 513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8057" y="2340620"/>
            <a:ext cx="1855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76250" y="2683520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554682" y="2683520"/>
            <a:ext cx="7128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cooperative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76250" y="2828181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11" name="Text 9"/>
          <p:cNvSpPr/>
          <p:nvPr/>
        </p:nvSpPr>
        <p:spPr>
          <a:xfrm>
            <a:off x="554682" y="2828181"/>
            <a:ext cx="9764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8 founding members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76250" y="2972842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554682" y="2972842"/>
            <a:ext cx="8381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safety training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76250" y="3117503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554682" y="3117503"/>
            <a:ext cx="68266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5 pilot facilities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76250" y="3452664"/>
            <a:ext cx="1819275" cy="182761"/>
          </a:xfrm>
          <a:prstGeom prst="roundRect">
            <a:avLst>
              <a:gd name="adj" fmla="val 20847"/>
            </a:avLst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6919" y="3490764"/>
            <a:ext cx="17779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 clients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319463" y="161672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E7D32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33614" y="1727150"/>
            <a:ext cx="1556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05075" y="2245370"/>
            <a:ext cx="2009775" cy="1485305"/>
          </a:xfrm>
          <a:prstGeom prst="roundRect">
            <a:avLst>
              <a:gd name="adj" fmla="val 5130"/>
            </a:avLst>
          </a:prstGeom>
          <a:solidFill>
            <a:srgbClr val="F1F8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82132" y="2340620"/>
            <a:ext cx="1855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600325" y="2683520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2678757" y="2683520"/>
            <a:ext cx="9893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break-even (Month 5)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600325" y="2828181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2678757" y="2828181"/>
            <a:ext cx="10583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recycler partnerships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600325" y="2972842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2678757" y="2972842"/>
            <a:ext cx="8425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training program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600325" y="3117503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29" name="Text 27"/>
          <p:cNvSpPr/>
          <p:nvPr/>
        </p:nvSpPr>
        <p:spPr>
          <a:xfrm>
            <a:off x="2678757" y="3117503"/>
            <a:ext cx="60934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operations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600325" y="3452664"/>
            <a:ext cx="1819275" cy="182761"/>
          </a:xfrm>
          <a:prstGeom prst="roundRect">
            <a:avLst>
              <a:gd name="adj" fmla="val 20847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620994" y="3490764"/>
            <a:ext cx="17779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10 clients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443538" y="161672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4CAF50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69893" y="1733848"/>
            <a:ext cx="130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629150" y="2245370"/>
            <a:ext cx="2009775" cy="1485305"/>
          </a:xfrm>
          <a:prstGeom prst="roundRect">
            <a:avLst>
              <a:gd name="adj" fmla="val 5130"/>
            </a:avLst>
          </a:prstGeom>
          <a:solidFill>
            <a:srgbClr val="F9FB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06207" y="2340620"/>
            <a:ext cx="1855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724400" y="2683520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4802832" y="2683520"/>
            <a:ext cx="75613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15 facilities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24400" y="2828181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39" name="Text 37"/>
          <p:cNvSpPr/>
          <p:nvPr/>
        </p:nvSpPr>
        <p:spPr>
          <a:xfrm>
            <a:off x="4802832" y="2828181"/>
            <a:ext cx="8552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4 more members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724400" y="2972842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4802832" y="2972842"/>
            <a:ext cx="6307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partnership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724400" y="3117503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43" name="Text 41"/>
          <p:cNvSpPr/>
          <p:nvPr/>
        </p:nvSpPr>
        <p:spPr>
          <a:xfrm>
            <a:off x="4802832" y="3117503"/>
            <a:ext cx="6091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profit margin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724400" y="3452664"/>
            <a:ext cx="1819275" cy="182761"/>
          </a:xfrm>
          <a:prstGeom prst="roundRect">
            <a:avLst>
              <a:gd name="adj" fmla="val 2084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45069" y="3490764"/>
            <a:ext cx="17779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15 clients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7567612" y="161672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1C784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57150" dist="190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693968" y="1733848"/>
            <a:ext cx="130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6753225" y="2245370"/>
            <a:ext cx="2009775" cy="1485305"/>
          </a:xfrm>
          <a:prstGeom prst="roundRect">
            <a:avLst>
              <a:gd name="adj" fmla="val 5130"/>
            </a:avLst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30282" y="2340620"/>
            <a:ext cx="1855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6848475" y="2683520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51" name="Text 49"/>
          <p:cNvSpPr/>
          <p:nvPr/>
        </p:nvSpPr>
        <p:spPr>
          <a:xfrm>
            <a:off x="6926907" y="2683520"/>
            <a:ext cx="56592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facility clients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48475" y="2828181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53" name="Text 51"/>
          <p:cNvSpPr/>
          <p:nvPr/>
        </p:nvSpPr>
        <p:spPr>
          <a:xfrm>
            <a:off x="6926907" y="2828181"/>
            <a:ext cx="7172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women employed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848475" y="2972842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55" name="Text 53"/>
          <p:cNvSpPr/>
          <p:nvPr/>
        </p:nvSpPr>
        <p:spPr>
          <a:xfrm>
            <a:off x="6926907" y="2972842"/>
            <a:ext cx="74748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2nd district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848475" y="3117503"/>
            <a:ext cx="411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525" dirty="0"/>
          </a:p>
        </p:txBody>
      </p:sp>
      <p:sp>
        <p:nvSpPr>
          <p:cNvPr id="57" name="Text 55"/>
          <p:cNvSpPr/>
          <p:nvPr/>
        </p:nvSpPr>
        <p:spPr>
          <a:xfrm>
            <a:off x="6926907" y="3117503"/>
            <a:ext cx="9159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for follow-on funding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848475" y="3452664"/>
            <a:ext cx="1819275" cy="182761"/>
          </a:xfrm>
          <a:prstGeom prst="roundRect">
            <a:avLst>
              <a:gd name="adj" fmla="val 20847"/>
            </a:avLst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869144" y="3490764"/>
            <a:ext cx="177793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$35,200 revenue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81000" y="4680645"/>
            <a:ext cx="8382000" cy="234255"/>
          </a:xfrm>
          <a:prstGeom prst="roundRect">
            <a:avLst>
              <a:gd name="adj" fmla="val 2439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33197" y="4737795"/>
            <a:ext cx="82776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Follow-on Funding:</a:t>
            </a:r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 performers eligible for €50,000 investment from WE4A Demo Day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9046" y="827782"/>
            <a:ext cx="4405908" cy="2392412"/>
          </a:xfrm>
          <a:prstGeom prst="roundRect">
            <a:avLst>
              <a:gd name="adj" fmla="val 4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74745" y="1056382"/>
            <a:ext cx="3794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619881" y="1241078"/>
            <a:ext cx="19042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750"/>
              </a:spcAft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674745" y="1717328"/>
            <a:ext cx="37945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35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launch Uganda's first women's healthcare waste cooperative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94552" y="2075408"/>
            <a:ext cx="71287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794552" y="2387798"/>
            <a:ext cx="7128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Employed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46573" y="2075408"/>
            <a:ext cx="64152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846573" y="2387798"/>
            <a:ext cx="6415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Served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828039" y="2075408"/>
            <a:ext cx="63196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828039" y="2387798"/>
            <a:ext cx="6319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Tonnes Diverted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800871" y="2075408"/>
            <a:ext cx="5468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288%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800871" y="2387798"/>
            <a:ext cx="5468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by Year 3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333875" y="2679204"/>
            <a:ext cx="476250" cy="19050"/>
          </a:xfrm>
          <a:prstGeom prst="rect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74745" y="2831604"/>
            <a:ext cx="3794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Samura Boona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Medical Laboratory Technologist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60472" y="3601194"/>
            <a:ext cx="4622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Healthcare Waste into Women's Economic Empowerment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932814" y="4144119"/>
            <a:ext cx="32782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CleanHealth Waste Women's Cooperative • Kampala, Uganda • WE4A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CleanHealth Waste Women's Cooperative - WE4A Pitch Deck</dc:title>
  <dc:subject>WE4A Grant Application 2026</dc:subject>
  <dc:creator>Samura Boona</dc:creator>
  <cp:lastModifiedBy>Samura Boona</cp:lastModifiedBy>
  <cp:revision>1</cp:revision>
  <dcterms:created xsi:type="dcterms:W3CDTF">2026-01-22T17:22:45Z</dcterms:created>
  <dcterms:modified xsi:type="dcterms:W3CDTF">2026-01-22T17:22:45Z</dcterms:modified>
</cp:coreProperties>
</file>